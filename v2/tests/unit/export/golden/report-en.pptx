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3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r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711200"/>
            <a:ext cx="1174750" cy="50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2489200"/>
            <a:ext cx="711200" cy="508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1"/>
          <p:cNvSpPr/>
          <p:nvPr/>
        </p:nvSpPr>
        <p:spPr>
          <a:xfrm>
            <a:off x="711200" y="2717800"/>
            <a:ext cx="1076929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44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Monthly report</a:t>
            </a:r>
            <a:endParaRPr lang="en-GB" sz="4400" dirty="0"/>
          </a:p>
        </p:txBody>
      </p:sp>
      <p:sp>
        <p:nvSpPr>
          <p:cNvPr id="5" name="Text 2"/>
          <p:cNvSpPr/>
          <p:nvPr/>
        </p:nvSpPr>
        <p:spPr>
          <a:xfrm>
            <a:off x="711200" y="3479800"/>
            <a:ext cx="107692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30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September 2026</a:t>
            </a:r>
            <a:endParaRPr lang="en-GB" sz="3000" dirty="0"/>
          </a:p>
        </p:txBody>
      </p:sp>
      <p:sp>
        <p:nvSpPr>
          <p:cNvPr id="6" name="Text 3"/>
          <p:cNvSpPr/>
          <p:nvPr/>
        </p:nvSpPr>
        <p:spPr>
          <a:xfrm>
            <a:off x="711200" y="4241800"/>
            <a:ext cx="107692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600" dirty="0">
                <a:solidFill>
                  <a:srgbClr val="B3BA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Commercial</a:t>
            </a:r>
            <a:endParaRPr lang="en-GB" sz="1600" dirty="0"/>
          </a:p>
        </p:txBody>
      </p:sp>
      <p:sp>
        <p:nvSpPr>
          <p:cNvPr id="7" name="Text 4"/>
          <p:cNvSpPr/>
          <p:nvPr/>
        </p:nvSpPr>
        <p:spPr>
          <a:xfrm>
            <a:off x="711200" y="5943600"/>
            <a:ext cx="538464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B3BA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COM-M-2026-09</a:t>
            </a:r>
            <a:endParaRPr lang="en-GB" sz="1100" dirty="0"/>
          </a:p>
        </p:txBody>
      </p:sp>
      <p:sp>
        <p:nvSpPr>
          <p:cNvPr id="8" name="Text 5"/>
          <p:cNvSpPr/>
          <p:nvPr/>
        </p:nvSpPr>
        <p:spPr>
          <a:xfrm>
            <a:off x="6095848" y="5943600"/>
            <a:ext cx="538464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100" dirty="0">
                <a:solidFill>
                  <a:srgbClr val="B3BA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Issued 5 October 2026</a:t>
            </a:r>
            <a:endParaRPr lang="en-GB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This month vs the same month last year</a:t>
            </a:r>
            <a:endParaRPr lang="en-GB" sz="2200" dirty="0"/>
          </a:p>
        </p:txBody>
      </p:sp>
      <p:sp>
        <p:nvSpPr>
          <p:cNvPr id="3" name="Shape 1"/>
          <p:cNvSpPr/>
          <p:nvPr/>
        </p:nvSpPr>
        <p:spPr>
          <a:xfrm>
            <a:off x="508000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8330987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Monthly report · September 2026</a:t>
            </a:r>
            <a:endParaRPr lang="en-GB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Commercial</a:t>
            </a:r>
            <a:endParaRPr lang="en-GB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Page 2 of 7</a:t>
            </a:r>
            <a:endParaRPr lang="en-GB" sz="900" dirty="0"/>
          </a:p>
        </p:txBody>
      </p:sp>
      <p:sp>
        <p:nvSpPr>
          <p:cNvPr id="8" name="Text 6"/>
          <p:cNvSpPr/>
          <p:nvPr/>
        </p:nvSpPr>
        <p:spPr>
          <a:xfrm>
            <a:off x="508000" y="1219200"/>
            <a:ext cx="1117569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September 2026 · vs September 2025</a:t>
            </a:r>
            <a:endParaRPr lang="en-GB" sz="1100" dirty="0"/>
          </a:p>
        </p:txBody>
      </p:sp>
      <p:sp>
        <p:nvSpPr>
          <p:cNvPr id="9" name="Shape 7"/>
          <p:cNvSpPr/>
          <p:nvPr/>
        </p:nvSpPr>
        <p:spPr>
          <a:xfrm>
            <a:off x="508000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Revenue</a:t>
            </a:r>
            <a:endParaRPr lang="en-GB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606,500</a:t>
            </a: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SAR</a:t>
            </a:r>
            <a:endParaRPr lang="en-GB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512,000 SAR</a:t>
            </a:r>
            <a:endParaRPr lang="en-GB" sz="950" dirty="0"/>
          </a:p>
        </p:txBody>
      </p:sp>
      <p:sp>
        <p:nvSpPr>
          <p:cNvPr id="13" name="Text 11"/>
          <p:cNvSpPr/>
          <p:nvPr/>
        </p:nvSpPr>
        <p:spPr>
          <a:xfrm>
            <a:off x="1706819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+18.5%</a:t>
            </a:r>
            <a:endParaRPr lang="en-GB" sz="900" dirty="0"/>
          </a:p>
        </p:txBody>
      </p:sp>
      <p:sp>
        <p:nvSpPr>
          <p:cNvPr id="14" name="Shape 12"/>
          <p:cNvSpPr/>
          <p:nvPr/>
        </p:nvSpPr>
        <p:spPr>
          <a:xfrm>
            <a:off x="2773619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1419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New clients</a:t>
            </a:r>
            <a:endParaRPr lang="en-GB" sz="1050" dirty="0"/>
          </a:p>
        </p:txBody>
      </p:sp>
      <p:sp>
        <p:nvSpPr>
          <p:cNvPr id="16" name="Text 14"/>
          <p:cNvSpPr/>
          <p:nvPr/>
        </p:nvSpPr>
        <p:spPr>
          <a:xfrm>
            <a:off x="2951419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</a:t>
            </a:r>
            <a:endParaRPr lang="en-GB" sz="2600" dirty="0"/>
          </a:p>
        </p:txBody>
      </p:sp>
      <p:sp>
        <p:nvSpPr>
          <p:cNvPr id="17" name="Text 15"/>
          <p:cNvSpPr/>
          <p:nvPr/>
        </p:nvSpPr>
        <p:spPr>
          <a:xfrm>
            <a:off x="2951419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2</a:t>
            </a:r>
            <a:endParaRPr lang="en-GB" sz="950" dirty="0"/>
          </a:p>
        </p:txBody>
      </p:sp>
      <p:sp>
        <p:nvSpPr>
          <p:cNvPr id="18" name="Text 16"/>
          <p:cNvSpPr/>
          <p:nvPr/>
        </p:nvSpPr>
        <p:spPr>
          <a:xfrm>
            <a:off x="3972438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+100%</a:t>
            </a:r>
            <a:endParaRPr lang="en-GB" sz="900" dirty="0"/>
          </a:p>
        </p:txBody>
      </p:sp>
      <p:sp>
        <p:nvSpPr>
          <p:cNvPr id="19" name="Shape 17"/>
          <p:cNvSpPr/>
          <p:nvPr/>
        </p:nvSpPr>
        <p:spPr>
          <a:xfrm>
            <a:off x="5039238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7038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Contracts improved</a:t>
            </a:r>
            <a:endParaRPr lang="en-GB" sz="1050" dirty="0"/>
          </a:p>
        </p:txBody>
      </p:sp>
      <p:sp>
        <p:nvSpPr>
          <p:cNvPr id="21" name="Text 19"/>
          <p:cNvSpPr/>
          <p:nvPr/>
        </p:nvSpPr>
        <p:spPr>
          <a:xfrm>
            <a:off x="5217038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GB" sz="2600" dirty="0"/>
          </a:p>
        </p:txBody>
      </p:sp>
      <p:sp>
        <p:nvSpPr>
          <p:cNvPr id="22" name="Text 20"/>
          <p:cNvSpPr/>
          <p:nvPr/>
        </p:nvSpPr>
        <p:spPr>
          <a:xfrm>
            <a:off x="5217038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1</a:t>
            </a:r>
            <a:endParaRPr lang="en-GB" sz="950" dirty="0"/>
          </a:p>
        </p:txBody>
      </p:sp>
      <p:sp>
        <p:nvSpPr>
          <p:cNvPr id="23" name="Text 21"/>
          <p:cNvSpPr/>
          <p:nvPr/>
        </p:nvSpPr>
        <p:spPr>
          <a:xfrm>
            <a:off x="6238057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+200%</a:t>
            </a:r>
            <a:endParaRPr lang="en-GB" sz="900" dirty="0"/>
          </a:p>
        </p:txBody>
      </p:sp>
      <p:sp>
        <p:nvSpPr>
          <p:cNvPr id="24" name="Shape 22"/>
          <p:cNvSpPr/>
          <p:nvPr/>
        </p:nvSpPr>
        <p:spPr>
          <a:xfrm>
            <a:off x="7304857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2657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Hotel and airline suppliers</a:t>
            </a:r>
            <a:endParaRPr lang="en-GB" sz="1050" dirty="0"/>
          </a:p>
        </p:txBody>
      </p:sp>
      <p:sp>
        <p:nvSpPr>
          <p:cNvPr id="26" name="Text 24"/>
          <p:cNvSpPr/>
          <p:nvPr/>
        </p:nvSpPr>
        <p:spPr>
          <a:xfrm>
            <a:off x="7482657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30</a:t>
            </a:r>
            <a:endParaRPr lang="en-GB" sz="2600" dirty="0"/>
          </a:p>
        </p:txBody>
      </p:sp>
      <p:sp>
        <p:nvSpPr>
          <p:cNvPr id="27" name="Text 25"/>
          <p:cNvSpPr/>
          <p:nvPr/>
        </p:nvSpPr>
        <p:spPr>
          <a:xfrm>
            <a:off x="7482657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19</a:t>
            </a:r>
            <a:endParaRPr lang="en-GB" sz="950" dirty="0"/>
          </a:p>
        </p:txBody>
      </p:sp>
      <p:sp>
        <p:nvSpPr>
          <p:cNvPr id="28" name="Text 26"/>
          <p:cNvSpPr/>
          <p:nvPr/>
        </p:nvSpPr>
        <p:spPr>
          <a:xfrm>
            <a:off x="8503676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+57.9%</a:t>
            </a:r>
            <a:endParaRPr lang="en-GB" sz="900" dirty="0"/>
          </a:p>
        </p:txBody>
      </p:sp>
      <p:sp>
        <p:nvSpPr>
          <p:cNvPr id="29" name="Shape 27"/>
          <p:cNvSpPr/>
          <p:nvPr/>
        </p:nvSpPr>
        <p:spPr>
          <a:xfrm>
            <a:off x="9570476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48276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Airlines</a:t>
            </a:r>
            <a:endParaRPr lang="en-GB" sz="1050" dirty="0"/>
          </a:p>
        </p:txBody>
      </p:sp>
      <p:sp>
        <p:nvSpPr>
          <p:cNvPr id="31" name="Text 29"/>
          <p:cNvSpPr/>
          <p:nvPr/>
        </p:nvSpPr>
        <p:spPr>
          <a:xfrm>
            <a:off x="9748276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82</a:t>
            </a:r>
            <a:endParaRPr lang="en-GB" sz="2600" dirty="0"/>
          </a:p>
        </p:txBody>
      </p:sp>
      <p:sp>
        <p:nvSpPr>
          <p:cNvPr id="32" name="Text 30"/>
          <p:cNvSpPr/>
          <p:nvPr/>
        </p:nvSpPr>
        <p:spPr>
          <a:xfrm>
            <a:off x="9748276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79</a:t>
            </a:r>
            <a:endParaRPr lang="en-GB" sz="950" dirty="0"/>
          </a:p>
        </p:txBody>
      </p:sp>
      <p:sp>
        <p:nvSpPr>
          <p:cNvPr id="33" name="Text 31"/>
          <p:cNvSpPr/>
          <p:nvPr/>
        </p:nvSpPr>
        <p:spPr>
          <a:xfrm>
            <a:off x="10769295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+3.8%</a:t>
            </a:r>
            <a:endParaRPr lang="en-GB" sz="900" dirty="0"/>
          </a:p>
        </p:txBody>
      </p:sp>
      <p:sp>
        <p:nvSpPr>
          <p:cNvPr id="34" name="Shape 32"/>
          <p:cNvSpPr/>
          <p:nvPr/>
        </p:nvSpPr>
        <p:spPr>
          <a:xfrm>
            <a:off x="508000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Payment methods</a:t>
            </a:r>
            <a:endParaRPr lang="en-GB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</a:t>
            </a:r>
            <a:endParaRPr lang="en-GB" sz="2600" dirty="0"/>
          </a:p>
        </p:txBody>
      </p:sp>
      <p:sp>
        <p:nvSpPr>
          <p:cNvPr id="37" name="Text 35"/>
          <p:cNvSpPr/>
          <p:nvPr/>
        </p:nvSpPr>
        <p:spPr>
          <a:xfrm>
            <a:off x="685800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4</a:t>
            </a:r>
            <a:endParaRPr lang="en-GB" sz="950" dirty="0"/>
          </a:p>
        </p:txBody>
      </p:sp>
      <p:sp>
        <p:nvSpPr>
          <p:cNvPr id="38" name="Text 36"/>
          <p:cNvSpPr/>
          <p:nvPr/>
        </p:nvSpPr>
        <p:spPr>
          <a:xfrm>
            <a:off x="1706819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+50%</a:t>
            </a:r>
            <a:endParaRPr lang="en-GB" sz="900" dirty="0"/>
          </a:p>
        </p:txBody>
      </p:sp>
      <p:sp>
        <p:nvSpPr>
          <p:cNvPr id="39" name="Shape 37"/>
          <p:cNvSpPr/>
          <p:nvPr/>
        </p:nvSpPr>
        <p:spPr>
          <a:xfrm>
            <a:off x="2773619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51419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Countries with car and driver</a:t>
            </a:r>
            <a:endParaRPr lang="en-GB" sz="1050" dirty="0"/>
          </a:p>
        </p:txBody>
      </p:sp>
      <p:sp>
        <p:nvSpPr>
          <p:cNvPr id="41" name="Text 39"/>
          <p:cNvSpPr/>
          <p:nvPr/>
        </p:nvSpPr>
        <p:spPr>
          <a:xfrm>
            <a:off x="2951419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36</a:t>
            </a:r>
            <a:endParaRPr lang="en-GB" sz="2600" dirty="0"/>
          </a:p>
        </p:txBody>
      </p:sp>
      <p:sp>
        <p:nvSpPr>
          <p:cNvPr id="42" name="Text 40"/>
          <p:cNvSpPr/>
          <p:nvPr/>
        </p:nvSpPr>
        <p:spPr>
          <a:xfrm>
            <a:off x="2951419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12</a:t>
            </a:r>
            <a:endParaRPr lang="en-GB" sz="950" dirty="0"/>
          </a:p>
        </p:txBody>
      </p:sp>
      <p:sp>
        <p:nvSpPr>
          <p:cNvPr id="43" name="Text 41"/>
          <p:cNvSpPr/>
          <p:nvPr/>
        </p:nvSpPr>
        <p:spPr>
          <a:xfrm>
            <a:off x="3972438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+200%</a:t>
            </a:r>
            <a:endParaRPr lang="en-GB" sz="900" dirty="0"/>
          </a:p>
        </p:txBody>
      </p:sp>
      <p:sp>
        <p:nvSpPr>
          <p:cNvPr id="44" name="Shape 42"/>
          <p:cNvSpPr/>
          <p:nvPr/>
        </p:nvSpPr>
        <p:spPr>
          <a:xfrm>
            <a:off x="5039238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7038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Payments on time</a:t>
            </a:r>
            <a:endParaRPr lang="en-GB" sz="1050" dirty="0"/>
          </a:p>
        </p:txBody>
      </p:sp>
      <p:sp>
        <p:nvSpPr>
          <p:cNvPr id="46" name="Text 44"/>
          <p:cNvSpPr/>
          <p:nvPr/>
        </p:nvSpPr>
        <p:spPr>
          <a:xfrm>
            <a:off x="5217038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87.5%</a:t>
            </a:r>
            <a:endParaRPr lang="en-GB" sz="2600" dirty="0"/>
          </a:p>
        </p:txBody>
      </p:sp>
      <p:sp>
        <p:nvSpPr>
          <p:cNvPr id="47" name="Text 45"/>
          <p:cNvSpPr/>
          <p:nvPr/>
        </p:nvSpPr>
        <p:spPr>
          <a:xfrm>
            <a:off x="5217038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91%</a:t>
            </a:r>
            <a:endParaRPr lang="en-GB" sz="950" dirty="0"/>
          </a:p>
        </p:txBody>
      </p:sp>
      <p:sp>
        <p:nvSpPr>
          <p:cNvPr id="48" name="Text 46"/>
          <p:cNvSpPr/>
          <p:nvPr/>
        </p:nvSpPr>
        <p:spPr>
          <a:xfrm>
            <a:off x="6238057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FBE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C0233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−3.8%</a:t>
            </a:r>
            <a:endParaRPr lang="en-GB" sz="900" dirty="0"/>
          </a:p>
        </p:txBody>
      </p:sp>
      <p:sp>
        <p:nvSpPr>
          <p:cNvPr id="49" name="Shape 47"/>
          <p:cNvSpPr/>
          <p:nvPr/>
        </p:nvSpPr>
        <p:spPr>
          <a:xfrm>
            <a:off x="7304857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82657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Complaints</a:t>
            </a:r>
            <a:endParaRPr lang="en-GB" sz="1050" dirty="0"/>
          </a:p>
        </p:txBody>
      </p:sp>
      <p:sp>
        <p:nvSpPr>
          <p:cNvPr id="51" name="Text 49"/>
          <p:cNvSpPr/>
          <p:nvPr/>
        </p:nvSpPr>
        <p:spPr>
          <a:xfrm>
            <a:off x="7482657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7</a:t>
            </a:r>
            <a:endParaRPr lang="en-GB" sz="2600" dirty="0"/>
          </a:p>
        </p:txBody>
      </p:sp>
      <p:sp>
        <p:nvSpPr>
          <p:cNvPr id="52" name="Text 50"/>
          <p:cNvSpPr/>
          <p:nvPr/>
        </p:nvSpPr>
        <p:spPr>
          <a:xfrm>
            <a:off x="7482657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12</a:t>
            </a:r>
            <a:endParaRPr lang="en-GB" sz="950" dirty="0"/>
          </a:p>
        </p:txBody>
      </p:sp>
      <p:sp>
        <p:nvSpPr>
          <p:cNvPr id="53" name="Text 51"/>
          <p:cNvSpPr/>
          <p:nvPr/>
        </p:nvSpPr>
        <p:spPr>
          <a:xfrm>
            <a:off x="8503676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−41.7%</a:t>
            </a:r>
            <a:endParaRPr lang="en-GB" sz="900" dirty="0"/>
          </a:p>
        </p:txBody>
      </p:sp>
      <p:sp>
        <p:nvSpPr>
          <p:cNvPr id="54" name="Shape 52"/>
          <p:cNvSpPr/>
          <p:nvPr/>
        </p:nvSpPr>
        <p:spPr>
          <a:xfrm>
            <a:off x="9570476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48276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Tenders submitted</a:t>
            </a:r>
            <a:endParaRPr lang="en-GB" sz="1050" dirty="0"/>
          </a:p>
        </p:txBody>
      </p:sp>
      <p:sp>
        <p:nvSpPr>
          <p:cNvPr id="56" name="Text 54"/>
          <p:cNvSpPr/>
          <p:nvPr/>
        </p:nvSpPr>
        <p:spPr>
          <a:xfrm>
            <a:off x="9748276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GB" sz="2600" dirty="0"/>
          </a:p>
        </p:txBody>
      </p:sp>
      <p:sp>
        <p:nvSpPr>
          <p:cNvPr id="57" name="Text 55"/>
          <p:cNvSpPr/>
          <p:nvPr/>
        </p:nvSpPr>
        <p:spPr>
          <a:xfrm>
            <a:off x="9748276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vs —</a:t>
            </a:r>
            <a:endParaRPr lang="en-GB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Each KPI's addition this month</a:t>
            </a:r>
            <a:endParaRPr lang="en-GB" sz="2200" dirty="0"/>
          </a:p>
        </p:txBody>
      </p:sp>
      <p:sp>
        <p:nvSpPr>
          <p:cNvPr id="3" name="Shape 1"/>
          <p:cNvSpPr/>
          <p:nvPr/>
        </p:nvSpPr>
        <p:spPr>
          <a:xfrm>
            <a:off x="508000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8330987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Monthly report · September 2026</a:t>
            </a:r>
            <a:endParaRPr lang="en-GB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Commercial</a:t>
            </a:r>
            <a:endParaRPr lang="en-GB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Page 3 of 7</a:t>
            </a:r>
            <a:endParaRPr lang="en-GB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117570"/>
                <a:gridCol w="4246764"/>
                <a:gridCol w="1564597"/>
                <a:gridCol w="1341083"/>
                <a:gridCol w="1341083"/>
                <a:gridCol w="1564597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Code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KPI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Q3 target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September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Quarter to date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Status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K-REV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Department revenue (SAR)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100,000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11,500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11,500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C0233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Behind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K-NEW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New clients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7D62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At risk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K-TND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Tenders submitted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 track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K-AWD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Awarded value (SAR)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500,000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250,000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7D62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At risk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K-CTR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Contracts improved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 track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K-SUP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New suppliers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Done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K-INT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Integrations handed to Product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C0233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Behind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K-MOU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MoU signings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Done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K-CSV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Cost savings (SAR, not revenue)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50,000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42,000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42,000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 track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K-CSAT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Client satisfaction (%)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 measured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Each KPI's addition this month</a:t>
            </a:r>
            <a:endParaRPr lang="en-GB" sz="2200" dirty="0"/>
          </a:p>
        </p:txBody>
      </p:sp>
      <p:sp>
        <p:nvSpPr>
          <p:cNvPr id="3" name="Shape 1"/>
          <p:cNvSpPr/>
          <p:nvPr/>
        </p:nvSpPr>
        <p:spPr>
          <a:xfrm>
            <a:off x="508000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8330987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Monthly report · September 2026</a:t>
            </a:r>
            <a:endParaRPr lang="en-GB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Commercial</a:t>
            </a:r>
            <a:endParaRPr lang="en-GB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Page 4 of 7</a:t>
            </a:r>
            <a:endParaRPr lang="en-GB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117570"/>
                <a:gridCol w="4246764"/>
                <a:gridCol w="1564597"/>
                <a:gridCol w="1341083"/>
                <a:gridCol w="1341083"/>
                <a:gridCol w="1564597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Code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KPI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Q3 target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September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Quarter to date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Status</a:t>
                      </a:r>
                      <a:endParaRPr lang="en-GB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K-EVT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Events and exhibitions attended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 track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K-TRN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Operations trainings delivered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7D62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At risk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K-PAY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Average days to pay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32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34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C0233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Behind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K-OPS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Operational plan items</a:t>
                      </a:r>
                      <a:endParaRPr lang="en-GB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en-GB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0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Carried over</a:t>
                      </a:r>
                      <a:endParaRPr lang="en-GB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Key achievements</a:t>
            </a:r>
            <a:endParaRPr lang="en-GB" sz="2200" dirty="0"/>
          </a:p>
        </p:txBody>
      </p:sp>
      <p:sp>
        <p:nvSpPr>
          <p:cNvPr id="3" name="Shape 1"/>
          <p:cNvSpPr/>
          <p:nvPr/>
        </p:nvSpPr>
        <p:spPr>
          <a:xfrm>
            <a:off x="508000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8330987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Monthly report · September 2026</a:t>
            </a:r>
            <a:endParaRPr lang="en-GB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Commercial</a:t>
            </a:r>
            <a:endParaRPr lang="en-GB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Page 5 of 7</a:t>
            </a:r>
            <a:endParaRPr lang="en-GB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9270695"/>
                <a:gridCol w="1905000"/>
              </a:tblGrid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300" b="1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Contracts and agreements</a:t>
                      </a:r>
                      <a:endParaRPr lang="en-GB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1270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Signed a cooperation agreement with Sample Travel LLC giving a 5% discount on package prices.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Renewed the Test Co A contract (DK-P-0001) and raised its credit line to 50,000 SAR.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Madeup Airlines agreed to a fixed net fare for groups of 10 or more, reviewed on 14/08/2026.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300" b="1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Revenue and collections</a:t>
                      </a:r>
                      <a:endParaRPr lang="en-GB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1270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Invoice INV-T-0001 for Test Co A was paid in full; bookings rose from 1,200 to 3,450 in Q1–Q2, up 187.5%.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11,500 SAR</a:t>
                      </a:r>
                      <a:endParaRPr lang="en-GB" sz="1200" dirty="0"/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Received a commission from Fake Institute for 2025, recorded under DPIN-T-0001.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26,231 SAR</a:t>
                      </a:r>
                      <a:endParaRPr lang="en-GB" sz="1200" dirty="0"/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300" b="1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Problem solving</a:t>
                      </a:r>
                      <a:endParaRPr lang="en-GB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1270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Resolved late ticket delivery for Madeup Airlines bookings: exposure 50,000, actual loss -8,000 avoided.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GB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42,000 SAR</a:t>
                      </a:r>
                      <a:endParaRPr lang="en-GB" sz="1200" dirty="0"/>
                    </a:p>
                    <a:p>
                      <a:pPr algn="r" indent="0" marL="0">
                        <a:buNone/>
                      </a:pPr>
                      <a:r>
                        <a:rPr lang="en-GB" altLang="en-US" sz="850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avoided · not revenue</a:t>
                      </a:r>
                      <a:endParaRPr lang="en-GB" sz="1200" dirty="0"/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Arabic digits typed by a person print as Latin digits: 3 contracts, 12.5% saving.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Challenges</a:t>
            </a:r>
            <a:endParaRPr lang="en-GB" sz="2200" dirty="0"/>
          </a:p>
        </p:txBody>
      </p:sp>
      <p:sp>
        <p:nvSpPr>
          <p:cNvPr id="3" name="Shape 1"/>
          <p:cNvSpPr/>
          <p:nvPr/>
        </p:nvSpPr>
        <p:spPr>
          <a:xfrm>
            <a:off x="508000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8330987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Monthly report · September 2026</a:t>
            </a:r>
            <a:endParaRPr lang="en-GB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Commercial</a:t>
            </a:r>
            <a:endParaRPr lang="en-GB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Page 6 of 7</a:t>
            </a:r>
            <a:endParaRPr lang="en-GB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9270695"/>
                <a:gridCol w="1905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No reply yet from Fake University on the renewal, open since 3 August 2026 (57 days).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Payment through the Sample Pay gateway is still pending the provider’s review.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تأخر رد السفارة على طلب التأشيرة لمجموعة الطلاب (المرجع T-0042).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Next month’s targets</a:t>
            </a:r>
            <a:endParaRPr lang="en-GB" sz="2200" dirty="0"/>
          </a:p>
        </p:txBody>
      </p:sp>
      <p:sp>
        <p:nvSpPr>
          <p:cNvPr id="3" name="Shape 1"/>
          <p:cNvSpPr/>
          <p:nvPr/>
        </p:nvSpPr>
        <p:spPr>
          <a:xfrm>
            <a:off x="508000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8330987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Monthly report · September 2026</a:t>
            </a:r>
            <a:endParaRPr lang="en-GB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Commercial</a:t>
            </a:r>
            <a:endParaRPr lang="en-GB" sz="900" dirty="0"/>
          </a:p>
        </p:txBody>
      </p:sp>
      <p:sp>
        <p:nvSpPr>
          <p:cNvPr id="7" name="Text 5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GB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Page 7 of 7</a:t>
            </a:r>
            <a:endParaRPr lang="en-GB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9270695"/>
                <a:gridCol w="1905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Receive the commission from Sample Travel LLC.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Meet the five largest airlines to agree 2027 targets and discount codes.</a:t>
                      </a: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Commercial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report — September 2026</dc:title>
  <dc:subject>COM-M-2026-09</dc:subject>
  <dc:creator>Commercial</dc:creator>
  <cp:lastModifiedBy>Commercial</cp:lastModifiedBy>
  <cp:revision>1</cp:revision>
  <dcterms:created xsi:type="dcterms:W3CDTF">2026-10-05T12:00:00Z</dcterms:created>
  <dcterms:modified xsi:type="dcterms:W3CDTF">2026-10-05T12:00:00Z</dcterms:modified>
</cp:coreProperties>
</file>