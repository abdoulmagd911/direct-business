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3E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r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5745" y="711200"/>
            <a:ext cx="1174750" cy="50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769295" y="2489200"/>
            <a:ext cx="711200" cy="508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1"/>
          <p:cNvSpPr/>
          <p:nvPr/>
        </p:nvSpPr>
        <p:spPr>
          <a:xfrm>
            <a:off x="711200" y="2717800"/>
            <a:ext cx="10769295" cy="711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التقرير الشهري</a:t>
            </a:r>
            <a:endParaRPr lang="ar-SA" sz="4400" dirty="0"/>
          </a:p>
        </p:txBody>
      </p:sp>
      <p:sp>
        <p:nvSpPr>
          <p:cNvPr id="5" name="Text 2"/>
          <p:cNvSpPr/>
          <p:nvPr/>
        </p:nvSpPr>
        <p:spPr>
          <a:xfrm>
            <a:off x="711200" y="3479800"/>
            <a:ext cx="10769295" cy="533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سبتمبر 2026</a:t>
            </a:r>
            <a:endParaRPr lang="ar-SA" sz="3000" dirty="0"/>
          </a:p>
        </p:txBody>
      </p:sp>
      <p:sp>
        <p:nvSpPr>
          <p:cNvPr id="6" name="Text 3"/>
          <p:cNvSpPr/>
          <p:nvPr/>
        </p:nvSpPr>
        <p:spPr>
          <a:xfrm>
            <a:off x="711200" y="4241800"/>
            <a:ext cx="10769295" cy="304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B3BA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الإدارة التجارية</a:t>
            </a:r>
            <a:endParaRPr lang="ar-SA" sz="1600" dirty="0"/>
          </a:p>
        </p:txBody>
      </p:sp>
      <p:sp>
        <p:nvSpPr>
          <p:cNvPr id="7" name="Text 4"/>
          <p:cNvSpPr/>
          <p:nvPr/>
        </p:nvSpPr>
        <p:spPr>
          <a:xfrm>
            <a:off x="6095848" y="5943600"/>
            <a:ext cx="5384648" cy="203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B3BAC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COM-M-2026-09</a:t>
            </a:r>
            <a:endParaRPr lang="ar-SA" sz="1100" dirty="0"/>
          </a:p>
        </p:txBody>
      </p:sp>
      <p:sp>
        <p:nvSpPr>
          <p:cNvPr id="8" name="Text 5"/>
          <p:cNvSpPr/>
          <p:nvPr/>
        </p:nvSpPr>
        <p:spPr>
          <a:xfrm>
            <a:off x="711200" y="5943600"/>
            <a:ext cx="5384648" cy="203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100" dirty="0">
                <a:solidFill>
                  <a:srgbClr val="B3BA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صدر في 5 أكتوبر 2026</a:t>
            </a:r>
            <a:endParaRPr lang="ar-SA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مقارنة الشهر بنفس الشهر من العام الماضي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2 من 7</a:t>
            </a:r>
            <a:endParaRPr lang="ar-SA" sz="900" dirty="0"/>
          </a:p>
        </p:txBody>
      </p:sp>
      <p:sp>
        <p:nvSpPr>
          <p:cNvPr id="8" name="Text 6"/>
          <p:cNvSpPr/>
          <p:nvPr/>
        </p:nvSpPr>
        <p:spPr>
          <a:xfrm>
            <a:off x="508000" y="1219200"/>
            <a:ext cx="11175695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سبتمبر 2026 · مقابل سبتمبر 2025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9570476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8276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الإيرادات</a:t>
            </a:r>
            <a:endParaRPr lang="ar-SA" sz="1050" dirty="0"/>
          </a:p>
        </p:txBody>
      </p:sp>
      <p:sp>
        <p:nvSpPr>
          <p:cNvPr id="11" name="Text 9"/>
          <p:cNvSpPr/>
          <p:nvPr/>
        </p:nvSpPr>
        <p:spPr>
          <a:xfrm>
            <a:off x="9748276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606,500</a:t>
            </a: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 ريال</a:t>
            </a:r>
            <a:endParaRPr lang="ar-SA" sz="2600" dirty="0"/>
          </a:p>
        </p:txBody>
      </p:sp>
      <p:sp>
        <p:nvSpPr>
          <p:cNvPr id="12" name="Text 10"/>
          <p:cNvSpPr/>
          <p:nvPr/>
        </p:nvSpPr>
        <p:spPr>
          <a:xfrm>
            <a:off x="10343625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512,000 ريال</a:t>
            </a:r>
            <a:endParaRPr lang="ar-SA" sz="950" dirty="0"/>
          </a:p>
        </p:txBody>
      </p:sp>
      <p:sp>
        <p:nvSpPr>
          <p:cNvPr id="13" name="Text 11"/>
          <p:cNvSpPr/>
          <p:nvPr/>
        </p:nvSpPr>
        <p:spPr>
          <a:xfrm>
            <a:off x="9748276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‎+18.5%</a:t>
            </a:r>
            <a:endParaRPr lang="en-GB" sz="900" dirty="0"/>
          </a:p>
        </p:txBody>
      </p:sp>
      <p:sp>
        <p:nvSpPr>
          <p:cNvPr id="14" name="Shape 12"/>
          <p:cNvSpPr/>
          <p:nvPr/>
        </p:nvSpPr>
        <p:spPr>
          <a:xfrm>
            <a:off x="7304857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82657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عملاء جدد</a:t>
            </a:r>
            <a:endParaRPr lang="ar-SA" sz="1050" dirty="0"/>
          </a:p>
        </p:txBody>
      </p:sp>
      <p:sp>
        <p:nvSpPr>
          <p:cNvPr id="16" name="Text 14"/>
          <p:cNvSpPr/>
          <p:nvPr/>
        </p:nvSpPr>
        <p:spPr>
          <a:xfrm>
            <a:off x="7482657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</a:t>
            </a:r>
            <a:endParaRPr lang="ar-SA" sz="2600" dirty="0"/>
          </a:p>
        </p:txBody>
      </p:sp>
      <p:sp>
        <p:nvSpPr>
          <p:cNvPr id="17" name="Text 15"/>
          <p:cNvSpPr/>
          <p:nvPr/>
        </p:nvSpPr>
        <p:spPr>
          <a:xfrm>
            <a:off x="8078006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2</a:t>
            </a:r>
            <a:endParaRPr lang="ar-SA" sz="950" dirty="0"/>
          </a:p>
        </p:txBody>
      </p:sp>
      <p:sp>
        <p:nvSpPr>
          <p:cNvPr id="18" name="Text 16"/>
          <p:cNvSpPr/>
          <p:nvPr/>
        </p:nvSpPr>
        <p:spPr>
          <a:xfrm>
            <a:off x="7482657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‎+100%</a:t>
            </a:r>
            <a:endParaRPr lang="en-GB" sz="900" dirty="0"/>
          </a:p>
        </p:txBody>
      </p:sp>
      <p:sp>
        <p:nvSpPr>
          <p:cNvPr id="19" name="Shape 17"/>
          <p:cNvSpPr/>
          <p:nvPr/>
        </p:nvSpPr>
        <p:spPr>
          <a:xfrm>
            <a:off x="5039238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7038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العقود المحسّنة</a:t>
            </a:r>
            <a:endParaRPr lang="ar-SA" sz="1050" dirty="0"/>
          </a:p>
        </p:txBody>
      </p:sp>
      <p:sp>
        <p:nvSpPr>
          <p:cNvPr id="21" name="Text 19"/>
          <p:cNvSpPr/>
          <p:nvPr/>
        </p:nvSpPr>
        <p:spPr>
          <a:xfrm>
            <a:off x="5217038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</a:t>
            </a:r>
            <a:endParaRPr lang="ar-SA" sz="2600" dirty="0"/>
          </a:p>
        </p:txBody>
      </p:sp>
      <p:sp>
        <p:nvSpPr>
          <p:cNvPr id="22" name="Text 20"/>
          <p:cNvSpPr/>
          <p:nvPr/>
        </p:nvSpPr>
        <p:spPr>
          <a:xfrm>
            <a:off x="5812387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1</a:t>
            </a:r>
            <a:endParaRPr lang="ar-SA" sz="950" dirty="0"/>
          </a:p>
        </p:txBody>
      </p:sp>
      <p:sp>
        <p:nvSpPr>
          <p:cNvPr id="23" name="Text 21"/>
          <p:cNvSpPr/>
          <p:nvPr/>
        </p:nvSpPr>
        <p:spPr>
          <a:xfrm>
            <a:off x="5217038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‎+200%</a:t>
            </a:r>
            <a:endParaRPr lang="en-GB" sz="900" dirty="0"/>
          </a:p>
        </p:txBody>
      </p:sp>
      <p:sp>
        <p:nvSpPr>
          <p:cNvPr id="24" name="Shape 22"/>
          <p:cNvSpPr/>
          <p:nvPr/>
        </p:nvSpPr>
        <p:spPr>
          <a:xfrm>
            <a:off x="2773619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1419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مزودو الفنادق والطيران</a:t>
            </a:r>
            <a:endParaRPr lang="ar-SA" sz="1050" dirty="0"/>
          </a:p>
        </p:txBody>
      </p:sp>
      <p:sp>
        <p:nvSpPr>
          <p:cNvPr id="26" name="Text 24"/>
          <p:cNvSpPr/>
          <p:nvPr/>
        </p:nvSpPr>
        <p:spPr>
          <a:xfrm>
            <a:off x="2951419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30</a:t>
            </a:r>
            <a:endParaRPr lang="ar-SA" sz="2600" dirty="0"/>
          </a:p>
        </p:txBody>
      </p:sp>
      <p:sp>
        <p:nvSpPr>
          <p:cNvPr id="27" name="Text 25"/>
          <p:cNvSpPr/>
          <p:nvPr/>
        </p:nvSpPr>
        <p:spPr>
          <a:xfrm>
            <a:off x="3546768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19</a:t>
            </a:r>
            <a:endParaRPr lang="ar-SA" sz="950" dirty="0"/>
          </a:p>
        </p:txBody>
      </p:sp>
      <p:sp>
        <p:nvSpPr>
          <p:cNvPr id="28" name="Text 26"/>
          <p:cNvSpPr/>
          <p:nvPr/>
        </p:nvSpPr>
        <p:spPr>
          <a:xfrm>
            <a:off x="2951419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‎+57.9%</a:t>
            </a:r>
            <a:endParaRPr lang="en-GB" sz="900" dirty="0"/>
          </a:p>
        </p:txBody>
      </p:sp>
      <p:sp>
        <p:nvSpPr>
          <p:cNvPr id="29" name="Shape 27"/>
          <p:cNvSpPr/>
          <p:nvPr/>
        </p:nvSpPr>
        <p:spPr>
          <a:xfrm>
            <a:off x="508000" y="15748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17526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الطيران</a:t>
            </a:r>
            <a:endParaRPr lang="ar-SA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23114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82</a:t>
            </a:r>
            <a:endParaRPr lang="ar-SA" sz="2600" dirty="0"/>
          </a:p>
        </p:txBody>
      </p:sp>
      <p:sp>
        <p:nvSpPr>
          <p:cNvPr id="32" name="Text 30"/>
          <p:cNvSpPr/>
          <p:nvPr/>
        </p:nvSpPr>
        <p:spPr>
          <a:xfrm>
            <a:off x="1281149" y="31496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79</a:t>
            </a:r>
            <a:endParaRPr lang="ar-SA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31242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‎+3.8%</a:t>
            </a:r>
            <a:endParaRPr lang="en-GB" sz="900" dirty="0"/>
          </a:p>
        </p:txBody>
      </p:sp>
      <p:sp>
        <p:nvSpPr>
          <p:cNvPr id="34" name="Shape 32"/>
          <p:cNvSpPr/>
          <p:nvPr/>
        </p:nvSpPr>
        <p:spPr>
          <a:xfrm>
            <a:off x="9570476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48276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طرق الدفع</a:t>
            </a:r>
            <a:endParaRPr lang="ar-SA" sz="1050" dirty="0"/>
          </a:p>
        </p:txBody>
      </p:sp>
      <p:sp>
        <p:nvSpPr>
          <p:cNvPr id="36" name="Text 34"/>
          <p:cNvSpPr/>
          <p:nvPr/>
        </p:nvSpPr>
        <p:spPr>
          <a:xfrm>
            <a:off x="9748276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</a:t>
            </a:r>
            <a:endParaRPr lang="ar-SA" sz="2600" dirty="0"/>
          </a:p>
        </p:txBody>
      </p:sp>
      <p:sp>
        <p:nvSpPr>
          <p:cNvPr id="37" name="Text 35"/>
          <p:cNvSpPr/>
          <p:nvPr/>
        </p:nvSpPr>
        <p:spPr>
          <a:xfrm>
            <a:off x="10343625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4</a:t>
            </a:r>
            <a:endParaRPr lang="ar-SA" sz="950" dirty="0"/>
          </a:p>
        </p:txBody>
      </p:sp>
      <p:sp>
        <p:nvSpPr>
          <p:cNvPr id="38" name="Text 36"/>
          <p:cNvSpPr/>
          <p:nvPr/>
        </p:nvSpPr>
        <p:spPr>
          <a:xfrm>
            <a:off x="9748276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‎+50%</a:t>
            </a:r>
            <a:endParaRPr lang="en-GB" sz="900" dirty="0"/>
          </a:p>
        </p:txBody>
      </p:sp>
      <p:sp>
        <p:nvSpPr>
          <p:cNvPr id="39" name="Shape 37"/>
          <p:cNvSpPr/>
          <p:nvPr/>
        </p:nvSpPr>
        <p:spPr>
          <a:xfrm>
            <a:off x="7304857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82657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الدول المغطاة بخدمة سيارة مع سائق</a:t>
            </a:r>
            <a:endParaRPr lang="ar-SA" sz="1050" dirty="0"/>
          </a:p>
        </p:txBody>
      </p:sp>
      <p:sp>
        <p:nvSpPr>
          <p:cNvPr id="41" name="Text 39"/>
          <p:cNvSpPr/>
          <p:nvPr/>
        </p:nvSpPr>
        <p:spPr>
          <a:xfrm>
            <a:off x="7482657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36</a:t>
            </a:r>
            <a:endParaRPr lang="ar-SA" sz="2600" dirty="0"/>
          </a:p>
        </p:txBody>
      </p:sp>
      <p:sp>
        <p:nvSpPr>
          <p:cNvPr id="42" name="Text 40"/>
          <p:cNvSpPr/>
          <p:nvPr/>
        </p:nvSpPr>
        <p:spPr>
          <a:xfrm>
            <a:off x="8078006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12</a:t>
            </a:r>
            <a:endParaRPr lang="ar-SA" sz="950" dirty="0"/>
          </a:p>
        </p:txBody>
      </p:sp>
      <p:sp>
        <p:nvSpPr>
          <p:cNvPr id="43" name="Text 41"/>
          <p:cNvSpPr/>
          <p:nvPr/>
        </p:nvSpPr>
        <p:spPr>
          <a:xfrm>
            <a:off x="7482657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‎+200%</a:t>
            </a:r>
            <a:endParaRPr lang="en-GB" sz="900" dirty="0"/>
          </a:p>
        </p:txBody>
      </p:sp>
      <p:sp>
        <p:nvSpPr>
          <p:cNvPr id="44" name="Shape 42"/>
          <p:cNvSpPr/>
          <p:nvPr/>
        </p:nvSpPr>
        <p:spPr>
          <a:xfrm>
            <a:off x="5039238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7038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السداد في الموعد</a:t>
            </a:r>
            <a:endParaRPr lang="ar-SA" sz="1050" dirty="0"/>
          </a:p>
        </p:txBody>
      </p:sp>
      <p:sp>
        <p:nvSpPr>
          <p:cNvPr id="46" name="Text 44"/>
          <p:cNvSpPr/>
          <p:nvPr/>
        </p:nvSpPr>
        <p:spPr>
          <a:xfrm>
            <a:off x="5217038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87.5%</a:t>
            </a:r>
            <a:endParaRPr lang="ar-SA" sz="2600" dirty="0"/>
          </a:p>
        </p:txBody>
      </p:sp>
      <p:sp>
        <p:nvSpPr>
          <p:cNvPr id="47" name="Text 45"/>
          <p:cNvSpPr/>
          <p:nvPr/>
        </p:nvSpPr>
        <p:spPr>
          <a:xfrm>
            <a:off x="5812387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91%</a:t>
            </a:r>
            <a:endParaRPr lang="ar-SA" sz="950" dirty="0"/>
          </a:p>
        </p:txBody>
      </p:sp>
      <p:sp>
        <p:nvSpPr>
          <p:cNvPr id="48" name="Text 46"/>
          <p:cNvSpPr/>
          <p:nvPr/>
        </p:nvSpPr>
        <p:spPr>
          <a:xfrm>
            <a:off x="5217038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FBE4E8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C0233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‎−3.8%</a:t>
            </a:r>
            <a:endParaRPr lang="en-GB" sz="900" dirty="0"/>
          </a:p>
        </p:txBody>
      </p:sp>
      <p:sp>
        <p:nvSpPr>
          <p:cNvPr id="49" name="Shape 47"/>
          <p:cNvSpPr/>
          <p:nvPr/>
        </p:nvSpPr>
        <p:spPr>
          <a:xfrm>
            <a:off x="2773619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1419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الشكاوى</a:t>
            </a:r>
            <a:endParaRPr lang="ar-SA" sz="1050" dirty="0"/>
          </a:p>
        </p:txBody>
      </p:sp>
      <p:sp>
        <p:nvSpPr>
          <p:cNvPr id="51" name="Text 49"/>
          <p:cNvSpPr/>
          <p:nvPr/>
        </p:nvSpPr>
        <p:spPr>
          <a:xfrm>
            <a:off x="2951419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7</a:t>
            </a:r>
            <a:endParaRPr lang="ar-SA" sz="2600" dirty="0"/>
          </a:p>
        </p:txBody>
      </p:sp>
      <p:sp>
        <p:nvSpPr>
          <p:cNvPr id="52" name="Text 50"/>
          <p:cNvSpPr/>
          <p:nvPr/>
        </p:nvSpPr>
        <p:spPr>
          <a:xfrm>
            <a:off x="3546768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12</a:t>
            </a:r>
            <a:endParaRPr lang="ar-SA" sz="950" dirty="0"/>
          </a:p>
        </p:txBody>
      </p:sp>
      <p:sp>
        <p:nvSpPr>
          <p:cNvPr id="53" name="Text 51"/>
          <p:cNvSpPr/>
          <p:nvPr/>
        </p:nvSpPr>
        <p:spPr>
          <a:xfrm>
            <a:off x="2951419" y="5207000"/>
            <a:ext cx="736600" cy="203200"/>
          </a:xfrm>
          <a:prstGeom prst="roundRect">
            <a:avLst>
              <a:gd name="adj" fmla="val 45000"/>
            </a:avLst>
          </a:prstGeom>
          <a:solidFill>
            <a:srgbClr val="E2F2EA"/>
          </a:solidFill>
          <a:ln/>
        </p:spPr>
        <p:txBody>
          <a:bodyPr wrap="square" lIns="0" tIns="0" rIns="0" bIns="0" rtlCol="1" anchor="ctr"/>
          <a:lstStyle/>
          <a:p>
            <a:pPr rtl="1" algn="ctr" indent="0" marL="0">
              <a:buNone/>
            </a:pPr>
            <a:r>
              <a:rPr lang="en-GB" altLang="en-US" sz="900" b="1" dirty="0">
                <a:solidFill>
                  <a:srgbClr val="1F7A4D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‎−41.7%</a:t>
            </a:r>
            <a:endParaRPr lang="en-GB" sz="900" dirty="0"/>
          </a:p>
        </p:txBody>
      </p:sp>
      <p:sp>
        <p:nvSpPr>
          <p:cNvPr id="54" name="Shape 52"/>
          <p:cNvSpPr/>
          <p:nvPr/>
        </p:nvSpPr>
        <p:spPr>
          <a:xfrm>
            <a:off x="508000" y="3657600"/>
            <a:ext cx="2113219" cy="1930400"/>
          </a:xfrm>
          <a:prstGeom prst="roundRect">
            <a:avLst>
              <a:gd name="adj" fmla="val 2842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3835400"/>
            <a:ext cx="1757619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10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المنافسات المقدمة</a:t>
            </a:r>
            <a:endParaRPr lang="ar-SA" sz="1050" dirty="0"/>
          </a:p>
        </p:txBody>
      </p:sp>
      <p:sp>
        <p:nvSpPr>
          <p:cNvPr id="56" name="Text 54"/>
          <p:cNvSpPr/>
          <p:nvPr/>
        </p:nvSpPr>
        <p:spPr>
          <a:xfrm>
            <a:off x="685800" y="4394200"/>
            <a:ext cx="1757619" cy="431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en-GB" altLang="en-US" sz="26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</a:t>
            </a:r>
            <a:endParaRPr lang="ar-SA" sz="2600" dirty="0"/>
          </a:p>
        </p:txBody>
      </p:sp>
      <p:sp>
        <p:nvSpPr>
          <p:cNvPr id="57" name="Text 55"/>
          <p:cNvSpPr/>
          <p:nvPr/>
        </p:nvSpPr>
        <p:spPr>
          <a:xfrm>
            <a:off x="1281149" y="5232400"/>
            <a:ext cx="1162270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مقابل —</a:t>
            </a:r>
            <a:endParaRPr lang="ar-SA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إضافة كل مؤشر هذا الشهر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3 من 7</a:t>
            </a:r>
            <a:endParaRPr lang="ar-SA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564597"/>
                <a:gridCol w="1341083"/>
                <a:gridCol w="1341083"/>
                <a:gridCol w="1564597"/>
                <a:gridCol w="4246764"/>
                <a:gridCol w="1117570"/>
              </a:tblGrid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منذ بداية الربع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سبتمبر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مستهدف الربع الثالث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المؤشر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100,000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إيرادات الإدارة (ريال)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K-REV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مهدد بالتأخر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عملاء جدد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K-NEW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على المسار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المنافسات المقدمة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K-TND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مهدد بالتأخر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250,000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500,000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قيمة الترسية (ريال)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K-AWD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على المسار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العقود المحسّنة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K-CTR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منجز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موردون جدد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K-SUP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التكاملات المسلّمة لفريق المنتج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K-INT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منجز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مذكرات التفاهم الموقّعة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K-MOU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على المسار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50,000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وفورات التكلفة (ريال، ليست إيرادات)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K-CSV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مقاس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—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رضا العملاء (%)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K-CSAT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إضافة كل مؤشر هذا الشهر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4 من 7</a:t>
            </a:r>
            <a:endParaRPr lang="ar-SA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564597"/>
                <a:gridCol w="1341083"/>
                <a:gridCol w="1341083"/>
                <a:gridCol w="1564597"/>
                <a:gridCol w="4246764"/>
                <a:gridCol w="1117570"/>
              </a:tblGrid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منذ بداية الربع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سبتمبر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مستهدف الربع الثالث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المؤشر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1F7A4D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على المسار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الفعاليات والمعارض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K-EVT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7D62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مهدد بالتأخر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التدريبات المقدمة للعمليات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K-TRN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C0233F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متأخر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34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32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متوسط أيام السداد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K-PAY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00" b="1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مرحل</a:t>
                      </a:r>
                      <a:endParaRPr lang="ar-SA" sz="9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الخطة التشغيلية</a:t>
                      </a:r>
                      <a:endParaRPr lang="ar-SA" sz="10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K-OPS</a:t>
                      </a:r>
                      <a:endParaRPr lang="ar-SA" sz="10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0" marB="0" anchor="ctr">
                    <a:lnL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الإنجازات الرئيسية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5 من 7</a:t>
            </a:r>
            <a:endParaRPr lang="ar-SA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9270695"/>
              </a:tblGrid>
              <a:tr h="0">
                <a:tc grid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العقود والاتفاقيات</a:t>
                      </a:r>
                      <a:endParaRPr lang="ar-SA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توقيع اتفاقية تعاون مع Sample Travel LLC بخصم 5% على أسعار الباقات.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تجديد عقد Test Co A (DK-P-0001) ورفع الحد الائتماني إلى 50,000 ريال.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Madeup Airlines وافقت على سعر صافٍ ثابت للمجموعات من 10 أشخاص فأكثر (مراجعة في 14/08/2026).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الإيرادات والتحصيل</a:t>
                      </a:r>
                      <a:endParaRPr lang="ar-SA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11,500 ريال</a:t>
                      </a:r>
                      <a:endParaRPr lang="ar-SA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سداد الفاتورة INV-T-0001 لعميل Test Co A بالكامل، وارتفعت الحجوزات من 1,200 إلى 3,450 خلال Q1–Q2 بنسبة 187.5%.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26,231 ريال</a:t>
                      </a:r>
                      <a:endParaRPr lang="ar-SA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استلام عمولة من Fake Institute عن عام 2025، مسجلة برقم DPIN-T-0001.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300" b="1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حل المشكلات</a:t>
                      </a:r>
                      <a:endParaRPr lang="ar-SA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1270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1" algn="l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303848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42,000 ريال</a:t>
                      </a:r>
                      <a:endParaRPr lang="ar-SA" sz="1200" dirty="0"/>
                    </a:p>
                    <a:p>
                      <a:pPr rtl="1" algn="l" indent="0" marL="0">
                        <a:buNone/>
                      </a:pPr>
                      <a:r>
                        <a:rPr lang="ar-SA" altLang="en-US" sz="850" dirty="0">
                          <a:solidFill>
                            <a:srgbClr val="646D79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تم تجنبها · ليست إيرادات</a:t>
                      </a:r>
                      <a:endParaRPr lang="ar-SA" sz="1200" dirty="0"/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حل مشكلة تأخر إصدار التذاكر لحجوزات Madeup Airlines: التعرض 50,000 والخسارة الفعلية -8,000.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الأرقام العربية المكتوبة تُطبع بأرقام لاتينية: 3 عقود ووفر 12.5%.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التحديات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6 من 7</a:t>
            </a:r>
            <a:endParaRPr lang="ar-SA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92706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لم يصل رد من Fake University بشأن التجديد، مفتوح منذ 3 أغسطس 2026 (57 يوماً).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الدفع عبر بوابة Sample Pay ما زال بانتظار مراجعة المزود.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تأخر رد السفارة على طلب التأشيرة لمجموعة الطلاب (المرجع T-0042).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0709" y="381000"/>
            <a:ext cx="7822987" cy="3810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30384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مستهدفات الشهر القادم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11328095" y="838200"/>
            <a:ext cx="355600" cy="38100"/>
          </a:xfrm>
          <a:prstGeom prst="rect">
            <a:avLst/>
          </a:prstGeom>
          <a:solidFill>
            <a:srgbClr val="F06820"/>
          </a:solidFill>
          <a:ln/>
        </p:spPr>
      </p:sp>
      <p:sp>
        <p:nvSpPr>
          <p:cNvPr id="4" name="Text 2"/>
          <p:cNvSpPr/>
          <p:nvPr/>
        </p:nvSpPr>
        <p:spPr>
          <a:xfrm>
            <a:off x="508000" y="482600"/>
            <a:ext cx="3352709" cy="17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التقرير الشهري · سبتمبر 2026</a:t>
            </a:r>
            <a:endParaRPr lang="ar-SA" sz="1000" dirty="0"/>
          </a:p>
        </p:txBody>
      </p:sp>
      <p:sp>
        <p:nvSpPr>
          <p:cNvPr id="5" name="Shape 3"/>
          <p:cNvSpPr/>
          <p:nvPr/>
        </p:nvSpPr>
        <p:spPr>
          <a:xfrm>
            <a:off x="508000" y="6477000"/>
            <a:ext cx="11175695" cy="0"/>
          </a:xfrm>
          <a:prstGeom prst="line">
            <a:avLst/>
          </a:prstGeom>
          <a:noFill/>
          <a:ln w="9525">
            <a:solidFill>
              <a:srgbClr val="E6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848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COM-M-2026-09 · الإدارة التجارية</a:t>
            </a:r>
            <a:endParaRPr lang="ar-SA" sz="900" dirty="0"/>
          </a:p>
        </p:txBody>
      </p:sp>
      <p:sp>
        <p:nvSpPr>
          <p:cNvPr id="7" name="Text 5"/>
          <p:cNvSpPr/>
          <p:nvPr/>
        </p:nvSpPr>
        <p:spPr>
          <a:xfrm>
            <a:off x="508000" y="6553200"/>
            <a:ext cx="558784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rtl="1" algn="l" indent="0" marL="0">
              <a:buNone/>
            </a:pPr>
            <a:r>
              <a:rPr lang="ar-SA" altLang="en-US" sz="900" dirty="0">
                <a:solidFill>
                  <a:srgbClr val="646D79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صفحة 7 من 7</a:t>
            </a:r>
            <a:endParaRPr lang="ar-SA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19200"/>
          <a:ext cx="11175695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92706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استلام العمولة من Sample Travel LLC.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dirty="0">
                          <a:solidFill>
                            <a:srgbClr val="303848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•  الاجتماع مع أكبر 5 شركات طيران لتحديد مستهدفات 2027 وأكواد الخصم.</a:t>
                      </a:r>
                      <a:endParaRPr lang="ar-SA" sz="11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0" marR="0" marT="25400" marB="508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الإدارة التجارية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التقرير الشهري — سبتمبر 2026</dc:title>
  <dc:subject>COM-M-2026-09</dc:subject>
  <dc:creator>الإدارة التجارية</dc:creator>
  <cp:lastModifiedBy>الإدارة التجارية</cp:lastModifiedBy>
  <cp:revision>1</cp:revision>
  <dcterms:created xsi:type="dcterms:W3CDTF">2026-10-05T12:00:00Z</dcterms:created>
  <dcterms:modified xsi:type="dcterms:W3CDTF">2026-10-05T12:00:00Z</dcterms:modified>
</cp:coreProperties>
</file>