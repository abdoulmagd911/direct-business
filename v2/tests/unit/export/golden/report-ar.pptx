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ir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05745" y="711200"/>
            <a:ext cx="1174750" cy="50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769295" y="2489200"/>
            <a:ext cx="711200" cy="508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1"/>
          <p:cNvSpPr/>
          <p:nvPr/>
        </p:nvSpPr>
        <p:spPr>
          <a:xfrm>
            <a:off x="711200" y="2717800"/>
            <a:ext cx="10769295" cy="711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التقرير الشهري</a:t>
            </a:r>
            <a:endParaRPr lang="ar-SA" sz="4400" dirty="0"/>
          </a:p>
        </p:txBody>
      </p:sp>
      <p:sp>
        <p:nvSpPr>
          <p:cNvPr id="5" name="Text 2"/>
          <p:cNvSpPr/>
          <p:nvPr/>
        </p:nvSpPr>
        <p:spPr>
          <a:xfrm>
            <a:off x="711200" y="3479800"/>
            <a:ext cx="10769295" cy="533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سبتمبر 2026</a:t>
            </a:r>
            <a:endParaRPr lang="ar-SA" sz="3000" dirty="0"/>
          </a:p>
        </p:txBody>
      </p:sp>
      <p:sp>
        <p:nvSpPr>
          <p:cNvPr id="6" name="Text 3"/>
          <p:cNvSpPr/>
          <p:nvPr/>
        </p:nvSpPr>
        <p:spPr>
          <a:xfrm>
            <a:off x="711200" y="4241800"/>
            <a:ext cx="10769295" cy="304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الإدارة التجارية</a:t>
            </a:r>
            <a:endParaRPr lang="ar-SA" sz="1600" dirty="0"/>
          </a:p>
        </p:txBody>
      </p:sp>
      <p:sp>
        <p:nvSpPr>
          <p:cNvPr id="7" name="Text 4"/>
          <p:cNvSpPr/>
          <p:nvPr/>
        </p:nvSpPr>
        <p:spPr>
          <a:xfrm>
            <a:off x="6095848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B3BA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COM-M-2026-09</a:t>
            </a:r>
            <a:endParaRPr lang="ar-SA" sz="1100" dirty="0"/>
          </a:p>
        </p:txBody>
      </p:sp>
      <p:sp>
        <p:nvSpPr>
          <p:cNvPr id="8" name="Text 5"/>
          <p:cNvSpPr/>
          <p:nvPr/>
        </p:nvSpPr>
        <p:spPr>
          <a:xfrm>
            <a:off x="711200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1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صدر في 5 أكتوبر 2026</a:t>
            </a:r>
            <a:endParaRPr lang="ar-SA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مقارنة الشهر بنفس الشهر من العام الماضي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2 من 7</a:t>
            </a:r>
            <a:endParaRPr lang="ar-SA" sz="900" dirty="0"/>
          </a:p>
        </p:txBody>
      </p:sp>
      <p:sp>
        <p:nvSpPr>
          <p:cNvPr id="8" name="Text 6"/>
          <p:cNvSpPr/>
          <p:nvPr/>
        </p:nvSpPr>
        <p:spPr>
          <a:xfrm>
            <a:off x="508000" y="1219200"/>
            <a:ext cx="11175695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سبتمبر 2026 · مقابل سبتمبر 2025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9570476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48276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الإيرادات</a:t>
            </a:r>
            <a:endParaRPr lang="ar-SA" sz="1050" dirty="0"/>
          </a:p>
        </p:txBody>
      </p:sp>
      <p:sp>
        <p:nvSpPr>
          <p:cNvPr id="11" name="Text 9"/>
          <p:cNvSpPr/>
          <p:nvPr/>
        </p:nvSpPr>
        <p:spPr>
          <a:xfrm>
            <a:off x="9748276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48,300</a:t>
            </a: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 ريال</a:t>
            </a:r>
            <a:endParaRPr lang="ar-SA" sz="2600" dirty="0"/>
          </a:p>
        </p:txBody>
      </p:sp>
      <p:sp>
        <p:nvSpPr>
          <p:cNvPr id="12" name="Text 10"/>
          <p:cNvSpPr/>
          <p:nvPr/>
        </p:nvSpPr>
        <p:spPr>
          <a:xfrm>
            <a:off x="10343625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40,250 ريال</a:t>
            </a:r>
            <a:endParaRPr lang="ar-SA" sz="950" dirty="0"/>
          </a:p>
        </p:txBody>
      </p:sp>
      <p:sp>
        <p:nvSpPr>
          <p:cNvPr id="13" name="Text 11"/>
          <p:cNvSpPr/>
          <p:nvPr/>
        </p:nvSpPr>
        <p:spPr>
          <a:xfrm>
            <a:off x="9748276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‎+20%</a:t>
            </a:r>
            <a:endParaRPr lang="en-GB" sz="900" dirty="0"/>
          </a:p>
        </p:txBody>
      </p:sp>
      <p:sp>
        <p:nvSpPr>
          <p:cNvPr id="14" name="Shape 12"/>
          <p:cNvSpPr/>
          <p:nvPr/>
        </p:nvSpPr>
        <p:spPr>
          <a:xfrm>
            <a:off x="7304857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82657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عملاء جدد</a:t>
            </a:r>
            <a:endParaRPr lang="ar-SA" sz="1050" dirty="0"/>
          </a:p>
        </p:txBody>
      </p:sp>
      <p:sp>
        <p:nvSpPr>
          <p:cNvPr id="16" name="Text 14"/>
          <p:cNvSpPr/>
          <p:nvPr/>
        </p:nvSpPr>
        <p:spPr>
          <a:xfrm>
            <a:off x="7482657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</a:t>
            </a:r>
            <a:endParaRPr lang="ar-SA" sz="2600" dirty="0"/>
          </a:p>
        </p:txBody>
      </p:sp>
      <p:sp>
        <p:nvSpPr>
          <p:cNvPr id="17" name="Text 15"/>
          <p:cNvSpPr/>
          <p:nvPr/>
        </p:nvSpPr>
        <p:spPr>
          <a:xfrm>
            <a:off x="8078006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</a:t>
            </a:r>
            <a:endParaRPr lang="ar-SA" sz="950" dirty="0"/>
          </a:p>
        </p:txBody>
      </p:sp>
      <p:sp>
        <p:nvSpPr>
          <p:cNvPr id="18" name="Text 16"/>
          <p:cNvSpPr/>
          <p:nvPr/>
        </p:nvSpPr>
        <p:spPr>
          <a:xfrm>
            <a:off x="7482657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‎+200%</a:t>
            </a:r>
            <a:endParaRPr lang="en-GB" sz="900" dirty="0"/>
          </a:p>
        </p:txBody>
      </p:sp>
      <p:sp>
        <p:nvSpPr>
          <p:cNvPr id="19" name="Shape 17"/>
          <p:cNvSpPr/>
          <p:nvPr/>
        </p:nvSpPr>
        <p:spPr>
          <a:xfrm>
            <a:off x="5039238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7038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زيارات الشركاء</a:t>
            </a:r>
            <a:endParaRPr lang="ar-SA" sz="1050" dirty="0"/>
          </a:p>
        </p:txBody>
      </p:sp>
      <p:sp>
        <p:nvSpPr>
          <p:cNvPr id="21" name="Text 19"/>
          <p:cNvSpPr/>
          <p:nvPr/>
        </p:nvSpPr>
        <p:spPr>
          <a:xfrm>
            <a:off x="5217038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9</a:t>
            </a:r>
            <a:endParaRPr lang="ar-SA" sz="2600" dirty="0"/>
          </a:p>
        </p:txBody>
      </p:sp>
      <p:sp>
        <p:nvSpPr>
          <p:cNvPr id="22" name="Text 20"/>
          <p:cNvSpPr/>
          <p:nvPr/>
        </p:nvSpPr>
        <p:spPr>
          <a:xfrm>
            <a:off x="5812387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6</a:t>
            </a:r>
            <a:endParaRPr lang="ar-SA" sz="950" dirty="0"/>
          </a:p>
        </p:txBody>
      </p:sp>
      <p:sp>
        <p:nvSpPr>
          <p:cNvPr id="23" name="Text 21"/>
          <p:cNvSpPr/>
          <p:nvPr/>
        </p:nvSpPr>
        <p:spPr>
          <a:xfrm>
            <a:off x="5217038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‎+50%</a:t>
            </a:r>
            <a:endParaRPr lang="en-GB" sz="900" dirty="0"/>
          </a:p>
        </p:txBody>
      </p:sp>
      <p:sp>
        <p:nvSpPr>
          <p:cNvPr id="24" name="Shape 22"/>
          <p:cNvSpPr/>
          <p:nvPr/>
        </p:nvSpPr>
        <p:spPr>
          <a:xfrm>
            <a:off x="2773619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51419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العروض المرسلة</a:t>
            </a:r>
            <a:endParaRPr lang="ar-SA" sz="1050" dirty="0"/>
          </a:p>
        </p:txBody>
      </p:sp>
      <p:sp>
        <p:nvSpPr>
          <p:cNvPr id="26" name="Text 24"/>
          <p:cNvSpPr/>
          <p:nvPr/>
        </p:nvSpPr>
        <p:spPr>
          <a:xfrm>
            <a:off x="2951419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14</a:t>
            </a:r>
            <a:endParaRPr lang="ar-SA" sz="2600" dirty="0"/>
          </a:p>
        </p:txBody>
      </p:sp>
      <p:sp>
        <p:nvSpPr>
          <p:cNvPr id="27" name="Text 25"/>
          <p:cNvSpPr/>
          <p:nvPr/>
        </p:nvSpPr>
        <p:spPr>
          <a:xfrm>
            <a:off x="3546768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11</a:t>
            </a:r>
            <a:endParaRPr lang="ar-SA" sz="950" dirty="0"/>
          </a:p>
        </p:txBody>
      </p:sp>
      <p:sp>
        <p:nvSpPr>
          <p:cNvPr id="28" name="Text 26"/>
          <p:cNvSpPr/>
          <p:nvPr/>
        </p:nvSpPr>
        <p:spPr>
          <a:xfrm>
            <a:off x="2951419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‎+27.3%</a:t>
            </a:r>
            <a:endParaRPr lang="en-GB" sz="900" dirty="0"/>
          </a:p>
        </p:txBody>
      </p:sp>
      <p:sp>
        <p:nvSpPr>
          <p:cNvPr id="29" name="Shape 27"/>
          <p:cNvSpPr/>
          <p:nvPr/>
        </p:nvSpPr>
        <p:spPr>
          <a:xfrm>
            <a:off x="508000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جهات اتصال الشركاء المضافة</a:t>
            </a:r>
            <a:endParaRPr lang="ar-SA" sz="1050" dirty="0"/>
          </a:p>
        </p:txBody>
      </p:sp>
      <p:sp>
        <p:nvSpPr>
          <p:cNvPr id="31" name="Text 29"/>
          <p:cNvSpPr/>
          <p:nvPr/>
        </p:nvSpPr>
        <p:spPr>
          <a:xfrm>
            <a:off x="685800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137</a:t>
            </a:r>
            <a:endParaRPr lang="ar-SA" sz="2600" dirty="0"/>
          </a:p>
        </p:txBody>
      </p:sp>
      <p:sp>
        <p:nvSpPr>
          <p:cNvPr id="32" name="Text 30"/>
          <p:cNvSpPr/>
          <p:nvPr/>
        </p:nvSpPr>
        <p:spPr>
          <a:xfrm>
            <a:off x="1281149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120</a:t>
            </a:r>
            <a:endParaRPr lang="ar-SA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‎+14.2%</a:t>
            </a:r>
            <a:endParaRPr lang="en-GB" sz="900" dirty="0"/>
          </a:p>
        </p:txBody>
      </p:sp>
      <p:sp>
        <p:nvSpPr>
          <p:cNvPr id="34" name="Shape 32"/>
          <p:cNvSpPr/>
          <p:nvPr/>
        </p:nvSpPr>
        <p:spPr>
          <a:xfrm>
            <a:off x="9570476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8276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المدن المغطاة</a:t>
            </a:r>
            <a:endParaRPr lang="ar-SA" sz="1050" dirty="0"/>
          </a:p>
        </p:txBody>
      </p:sp>
      <p:sp>
        <p:nvSpPr>
          <p:cNvPr id="36" name="Text 34"/>
          <p:cNvSpPr/>
          <p:nvPr/>
        </p:nvSpPr>
        <p:spPr>
          <a:xfrm>
            <a:off x="9748276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7</a:t>
            </a:r>
            <a:endParaRPr lang="ar-SA" sz="2600" dirty="0"/>
          </a:p>
        </p:txBody>
      </p:sp>
      <p:sp>
        <p:nvSpPr>
          <p:cNvPr id="37" name="Text 35"/>
          <p:cNvSpPr/>
          <p:nvPr/>
        </p:nvSpPr>
        <p:spPr>
          <a:xfrm>
            <a:off x="10343625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5</a:t>
            </a:r>
            <a:endParaRPr lang="ar-SA" sz="950" dirty="0"/>
          </a:p>
        </p:txBody>
      </p:sp>
      <p:sp>
        <p:nvSpPr>
          <p:cNvPr id="38" name="Text 36"/>
          <p:cNvSpPr/>
          <p:nvPr/>
        </p:nvSpPr>
        <p:spPr>
          <a:xfrm>
            <a:off x="9748276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‎+40%</a:t>
            </a:r>
            <a:endParaRPr lang="en-GB" sz="900" dirty="0"/>
          </a:p>
        </p:txBody>
      </p:sp>
      <p:sp>
        <p:nvSpPr>
          <p:cNvPr id="39" name="Shape 37"/>
          <p:cNvSpPr/>
          <p:nvPr/>
        </p:nvSpPr>
        <p:spPr>
          <a:xfrm>
            <a:off x="7304857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82657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ورش العمل المنفذة</a:t>
            </a:r>
            <a:endParaRPr lang="ar-SA" sz="1050" dirty="0"/>
          </a:p>
        </p:txBody>
      </p:sp>
      <p:sp>
        <p:nvSpPr>
          <p:cNvPr id="41" name="Text 39"/>
          <p:cNvSpPr/>
          <p:nvPr/>
        </p:nvSpPr>
        <p:spPr>
          <a:xfrm>
            <a:off x="7482657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5</a:t>
            </a:r>
            <a:endParaRPr lang="ar-SA" sz="2600" dirty="0"/>
          </a:p>
        </p:txBody>
      </p:sp>
      <p:sp>
        <p:nvSpPr>
          <p:cNvPr id="42" name="Text 40"/>
          <p:cNvSpPr/>
          <p:nvPr/>
        </p:nvSpPr>
        <p:spPr>
          <a:xfrm>
            <a:off x="8078006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4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7482657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‎+25%</a:t>
            </a:r>
            <a:endParaRPr lang="en-GB" sz="900" dirty="0"/>
          </a:p>
        </p:txBody>
      </p:sp>
      <p:sp>
        <p:nvSpPr>
          <p:cNvPr id="44" name="Shape 42"/>
          <p:cNvSpPr/>
          <p:nvPr/>
        </p:nvSpPr>
        <p:spPr>
          <a:xfrm>
            <a:off x="5039238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7038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الردود في الموعد</a:t>
            </a:r>
            <a:endParaRPr lang="ar-SA" sz="1050" dirty="0"/>
          </a:p>
        </p:txBody>
      </p:sp>
      <p:sp>
        <p:nvSpPr>
          <p:cNvPr id="46" name="Text 44"/>
          <p:cNvSpPr/>
          <p:nvPr/>
        </p:nvSpPr>
        <p:spPr>
          <a:xfrm>
            <a:off x="5217038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92.5%</a:t>
            </a:r>
            <a:endParaRPr lang="ar-SA" sz="2600" dirty="0"/>
          </a:p>
        </p:txBody>
      </p:sp>
      <p:sp>
        <p:nvSpPr>
          <p:cNvPr id="47" name="Text 45"/>
          <p:cNvSpPr/>
          <p:nvPr/>
        </p:nvSpPr>
        <p:spPr>
          <a:xfrm>
            <a:off x="5812387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90%</a:t>
            </a:r>
            <a:endParaRPr lang="ar-SA" sz="950" dirty="0"/>
          </a:p>
        </p:txBody>
      </p:sp>
      <p:sp>
        <p:nvSpPr>
          <p:cNvPr id="48" name="Text 46"/>
          <p:cNvSpPr/>
          <p:nvPr/>
        </p:nvSpPr>
        <p:spPr>
          <a:xfrm>
            <a:off x="5217038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‎+2.5 نقطة</a:t>
            </a:r>
            <a:endParaRPr lang="ar-SA" sz="900" dirty="0"/>
          </a:p>
        </p:txBody>
      </p:sp>
      <p:sp>
        <p:nvSpPr>
          <p:cNvPr id="49" name="Shape 47"/>
          <p:cNvSpPr/>
          <p:nvPr/>
        </p:nvSpPr>
        <p:spPr>
          <a:xfrm>
            <a:off x="2773619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1419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الشكاوى</a:t>
            </a:r>
            <a:endParaRPr lang="ar-SA" sz="1050" dirty="0"/>
          </a:p>
        </p:txBody>
      </p:sp>
      <p:sp>
        <p:nvSpPr>
          <p:cNvPr id="51" name="Text 49"/>
          <p:cNvSpPr/>
          <p:nvPr/>
        </p:nvSpPr>
        <p:spPr>
          <a:xfrm>
            <a:off x="2951419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4</a:t>
            </a:r>
            <a:endParaRPr lang="ar-SA" sz="2600" dirty="0"/>
          </a:p>
        </p:txBody>
      </p:sp>
      <p:sp>
        <p:nvSpPr>
          <p:cNvPr id="52" name="Text 50"/>
          <p:cNvSpPr/>
          <p:nvPr/>
        </p:nvSpPr>
        <p:spPr>
          <a:xfrm>
            <a:off x="3546768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6</a:t>
            </a:r>
            <a:endParaRPr lang="ar-SA" sz="950" dirty="0"/>
          </a:p>
        </p:txBody>
      </p:sp>
      <p:sp>
        <p:nvSpPr>
          <p:cNvPr id="53" name="Text 51"/>
          <p:cNvSpPr/>
          <p:nvPr/>
        </p:nvSpPr>
        <p:spPr>
          <a:xfrm>
            <a:off x="2951419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1" anchor="ctr"/>
          <a:lstStyle/>
          <a:p>
            <a:pPr rtl="1"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‎−33.3%</a:t>
            </a:r>
            <a:endParaRPr lang="en-GB" sz="900" dirty="0"/>
          </a:p>
        </p:txBody>
      </p:sp>
      <p:sp>
        <p:nvSpPr>
          <p:cNvPr id="54" name="Shape 52"/>
          <p:cNvSpPr/>
          <p:nvPr/>
        </p:nvSpPr>
        <p:spPr>
          <a:xfrm>
            <a:off x="508000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المنافسات المقدمة</a:t>
            </a:r>
            <a:endParaRPr lang="ar-SA" sz="1050" dirty="0"/>
          </a:p>
        </p:txBody>
      </p:sp>
      <p:sp>
        <p:nvSpPr>
          <p:cNvPr id="56" name="Text 54"/>
          <p:cNvSpPr/>
          <p:nvPr/>
        </p:nvSpPr>
        <p:spPr>
          <a:xfrm>
            <a:off x="685800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1</a:t>
            </a:r>
            <a:endParaRPr lang="ar-SA" sz="2600" dirty="0"/>
          </a:p>
        </p:txBody>
      </p:sp>
      <p:sp>
        <p:nvSpPr>
          <p:cNvPr id="57" name="Text 55"/>
          <p:cNvSpPr/>
          <p:nvPr/>
        </p:nvSpPr>
        <p:spPr>
          <a:xfrm>
            <a:off x="1281149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—</a:t>
            </a:r>
            <a:endParaRPr lang="ar-SA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إضافة كل مؤشر هذا الشهر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3 من 7</a:t>
            </a:r>
            <a:endParaRPr lang="ar-SA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564597"/>
                <a:gridCol w="1341083"/>
                <a:gridCol w="1341083"/>
                <a:gridCol w="1564597"/>
                <a:gridCol w="4246764"/>
                <a:gridCol w="1117570"/>
              </a:tblGrid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الحالة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منذ بداية الربع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سبتمبر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مستهدف الربع الثالث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المؤشر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الرمز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7,250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7,250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إيرادات الإدارة (ريال)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K-REV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مهدد بالتأخر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عملاء جدد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K-NEW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المنافسات المقدمة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K-TND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مهدد بالتأخر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قيمة الترسية (ريال)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K-AWD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العقود المحسّنة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K-CTR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منجز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موردون جدد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K-SUP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التكاملات المسلّمة لفريق المنتج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K-INT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منجز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مذكرات التفاهم الموقّعة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K-MOU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18,500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18,500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وفورات التكلفة (ريال، ليست إيرادات)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K-CSV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غير مقاس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85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رضا العملاء (%)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K-CSAT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إضافة كل مؤشر هذا الشهر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4 من 7</a:t>
            </a:r>
            <a:endParaRPr lang="ar-SA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564597"/>
                <a:gridCol w="1341083"/>
                <a:gridCol w="1341083"/>
                <a:gridCol w="1564597"/>
                <a:gridCol w="4246764"/>
                <a:gridCol w="1117570"/>
              </a:tblGrid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الحالة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منذ بداية الربع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سبتمبر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مستهدف الربع الثالث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المؤشر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الرمز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الفعاليات والمعارض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K-EVT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مهدد بالتأخر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التدريبات المقدمة للعمليات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K-TRN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27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25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متوسط أيام السداد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K-PAY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مرحل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بنود الخطة التشغيلية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K-OPS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الإنجازات الرئيسية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5 من 7</a:t>
            </a:r>
            <a:endParaRPr lang="ar-SA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9270695"/>
              </a:tblGrid>
              <a:tr h="0">
                <a:tc grid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العقود والاتفاقيات</a:t>
                      </a:r>
                      <a:endParaRPr lang="ar-SA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توقيع اتفاقية تجريبية لثلاثة أشهر مع Sample Travel LLC بخصم 3% على أسعار باقات افتراضية.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تجديد العقد التجريبي مع Test Co A (DK-P-0001) وتحديد الحد الائتماني بـ 20,000 ريال.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Madeup Airlines وافقت على سعر تجريبي ثابت للمجموعات من 8 أشخاص فأكثر (مراجعة في 12/07/2026).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الإيرادات والتحصيل</a:t>
                      </a:r>
                      <a:endParaRPr lang="ar-SA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7,250 ريال</a:t>
                      </a:r>
                      <a:endParaRPr lang="ar-SA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سداد الفاتورة INV-T-0001 لعميل Test Co A بالكامل، وارتفعت الطلبات من 240 إلى 310 خلال Q1–Q2 بنسبة 29.2%.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3,140 ريال</a:t>
                      </a:r>
                      <a:endParaRPr lang="ar-SA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تسجيل رسوم إحالة افتراضية من Sample Holding برقم DPIN-T-0001.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حل المشكلات</a:t>
                      </a:r>
                      <a:endParaRPr lang="ar-SA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18,500 ريال</a:t>
                      </a:r>
                      <a:endParaRPr lang="ar-SA" sz="1200" dirty="0"/>
                    </a:p>
                    <a:p>
                      <a:pPr rtl="1" algn="l" indent="0" marL="0">
                        <a:buNone/>
                      </a:pPr>
                      <a:r>
                        <a:rPr lang="ar-SA" altLang="en-US" sz="850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تم تجنبها · ليست إيرادات</a:t>
                      </a:r>
                      <a:endParaRPr lang="ar-SA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معالجة التأكيدات المكررة في حجوزات Madeup Airlines التجريبية: التعرض 20,000 والخسارة الفعلية -1,500.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الأرقام العربية المكتوبة تُطبع بأرقام لاتينية: 4 عقود ووفر 7.5%.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التحديات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6 من 7</a:t>
            </a:r>
            <a:endParaRPr lang="ar-SA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9270695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لم يصل رد من Test Co D بشأن التجربة، مفتوح منذ 10 أغسطس 2026 (50 يوماً).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مزامنة التقويم المشترك مع Sample Pay ما زالت بانتظار مراجعة المزود.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لم يؤكد العميل التجريبي موعد الاجتماع بعد (المرجع T-0042).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مستهدفات الشهر القادم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7 من 7</a:t>
            </a:r>
            <a:endParaRPr lang="ar-SA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9270695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متابعة نتائج التجربة مع Sample Travel LLC.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تنفيذ زيارتين للشركاء وإرسال قائمة الأسعار الافتراضية للربع القادم.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الإدارة التجارية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التقرير الشهري — سبتمبر 2026</dc:title>
  <dc:subject>COM-M-2026-09</dc:subject>
  <dc:creator>الإدارة التجارية</dc:creator>
  <cp:lastModifiedBy>الإدارة التجارية</cp:lastModifiedBy>
  <cp:revision>1</cp:revision>
  <dcterms:created xsi:type="dcterms:W3CDTF">2026-10-05T12:00:00Z</dcterms:created>
  <dcterms:modified xsi:type="dcterms:W3CDTF">2026-10-05T12:00:00Z</dcterms:modified>
</cp:coreProperties>
</file>